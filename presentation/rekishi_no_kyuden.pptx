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オープニング。共感を誘う軽い問いかけで始める。深刻にならないトーンで。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場所法＝記憶の宮殿の信頼性を短く紹介。学術的になりすぎないよう、軽いトーンで。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1匹ずつ、声に出して読み上げながらクリックで次に進めてください。全部で12匹。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12匹すべて表示完了。次のスライドで感想を共有する。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失敗を明るく共有。笑いに変えるトーンで、次の解決策への期待を高める。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専門用語（符号化特異性原理など）は使わず、平易な言葉で。図解を見せながら簡潔に説明。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1匹ずつ、声に出して読み上げながらクリックで次に進めてください。全部で12匹。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クリックで次の動物を表示。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12匹すべて表示完了。次のスライドで感想を共有する。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聴衆自身の体感を根拠にする。数字は演出用の一例であることをさりげなく伝える。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動物の記憶体験を歴史学習に橋渡しする問いかけ。次スライドへの期待を作る。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説明は最小限に。最後は『歴史の宮殿』という名前そのものへ意識を集約させる。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細部を忘れても『歴史の宮殿』という名前だけは持ち帰ってもらう、最終ゴールのスライド。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91440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4329" y="1155802"/>
            <a:ext cx="523037" cy="52303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92928" y="914400"/>
            <a:ext cx="1005840" cy="1005840"/>
          </a:xfrm>
          <a:prstGeom prst="ellipse">
            <a:avLst/>
          </a:prstGeom>
          <a:solidFill>
            <a:srgbClr val="3D2A5E"/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4329" y="1155802"/>
            <a:ext cx="523037" cy="52303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" y="2286000"/>
            <a:ext cx="1036289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歴史を覚えられなくて、</a:t>
            </a:r>
            <a:endParaRPr lang="en-US" sz="4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お困りではありませんか？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914400" y="461772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年号も、人名も、頭に入ってはすぐに消えていく…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4577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4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「記憶の宮殿」は、</a:t>
            </a:r>
            <a:endParaRPr lang="en-US" sz="3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4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記憶力世界大会でも使われる本物のテクニック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234440" y="3063240"/>
            <a:ext cx="1828800" cy="1828800"/>
          </a:xfrm>
          <a:prstGeom prst="ellipse">
            <a:avLst/>
          </a:prstGeom>
          <a:solidFill>
            <a:srgbClr val="F1E6B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" y="3502152"/>
            <a:ext cx="950976" cy="950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794760" y="2880360"/>
            <a:ext cx="7573975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4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世界記憶力選手権 上位入賞者の多くが実践する記憶術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4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想像上の場所に情報を配置する「場所法」がベース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4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無関係な情報の羅列でも、驚くほど覚えられるようになる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22960" y="612648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出典：Maguire et al., 2003 ほか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1231575" y="58978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 — 何もなしで挑戦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12個の動物を、覚えてみよう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ゾウ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 — 何もなしで挑戦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12個の動物を、覚えてみよう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ゾウ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キリン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 — 何もなしで挑戦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12個の動物を、覚えてみよう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ゾウ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キリン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ペンギン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 — 何もなしで挑戦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12個の動物を、覚えてみよう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ゾウ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キリン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ペンギン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カンガルー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 — 何もなしで挑戦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12個の動物を、覚えてみよう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ゾウ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キリン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ペンギン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カンガルー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パンダ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 — 何もなしで挑戦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12個の動物を、覚えてみよう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ゾウ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キリン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ペンギン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カンガルー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パンダ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57607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ラクダ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 — 何もなしで挑戦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12個の動物を、覚えてみよう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ゾウ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キリン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ペンギン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カンガルー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パンダ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7607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ラクダ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78728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フクロウ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 — 何もなしで挑戦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12個の動物を、覚えてみよう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ゾウ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キリン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ペンギン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カンガルー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パンダ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7607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ラクダ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8728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フクロウ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78728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イルカ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 — 何もなしで挑戦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12個の動物を、覚えてみよう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ゾウ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キリン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ペンギン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カンガルー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パンダ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7607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ラクダ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8728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フクロウ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8728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イルカ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78728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サイ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 — 何もなしで挑戦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12個の動物を、覚えてみよう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ゾウ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キリン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ペンギン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カンガルー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パンダ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7607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ラクダ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8728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フクロウ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8728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イルカ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8728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サイ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78728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コアラ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 — 何もなしで挑戦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12個の動物を、覚えてみよう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ゾウ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キリン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ペンギン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カンガルー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パンダ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7607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ラクダ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8728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フクロウ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8728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イルカ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8728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サイ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78728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コアラ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78728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ワニ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 — 何もなしで挑戦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12個の動物を、覚えてみよう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ゾウ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キリン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ペンギン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カンガルー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パンダ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7607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ラクダ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8728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フクロウ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8728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イルカ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8728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サイ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78728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コアラ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8728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ワニ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78728" y="57607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ハリネズミ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8608" y="1508760"/>
            <a:ext cx="1554480" cy="1554480"/>
          </a:xfrm>
          <a:prstGeom prst="ellipse">
            <a:avLst/>
          </a:prstGeom>
          <a:solidFill>
            <a:srgbClr val="F1E6B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1683" y="1881835"/>
            <a:ext cx="808330" cy="8083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291840"/>
            <a:ext cx="103628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4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難しいですよね？！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914400" y="434340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多くの人が、半分も思い出せません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1231575" y="58978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24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記憶の宮殿（ボディー法）の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24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やり方は…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214884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7A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想像上の建物ではなく、自分の“体”を記憶の場所にする。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7A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足先から頭頂へ、覚えたいことを順番に貼り付けていく。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580644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感覚（温度・質感・重さ）と結びつけると、忘れにくくなる。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458200" y="640080"/>
            <a:ext cx="640080" cy="5074920"/>
          </a:xfrm>
          <a:prstGeom prst="roundRect">
            <a:avLst>
              <a:gd name="adj" fmla="val 50000"/>
            </a:avLst>
          </a:prstGeom>
          <a:solidFill>
            <a:srgbClr val="F4EFE3"/>
          </a:solidFill>
          <a:ln w="12700">
            <a:solidFill>
              <a:srgbClr val="E4D9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31936" y="630936"/>
            <a:ext cx="292608" cy="292608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31936" y="630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098280" y="57607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頭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31936" y="1431036"/>
            <a:ext cx="292608" cy="292608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31936" y="14310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098280" y="137617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31936" y="2231136"/>
            <a:ext cx="292608" cy="292608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31936" y="2231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098280" y="217627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肩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631936" y="3031236"/>
            <a:ext cx="292608" cy="292608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31936" y="30312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98280" y="297637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631936" y="3831336"/>
            <a:ext cx="292608" cy="292608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31936" y="3831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098280" y="377647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おなか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631936" y="4631436"/>
            <a:ext cx="292608" cy="292608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31936" y="46314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098280" y="457657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ひざ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631936" y="5431536"/>
            <a:ext cx="292608" cy="292608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31936" y="5431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098280" y="537667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足先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0" y="5806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（古い順に足先→頭頂へ）</a:t>
            </a:r>
            <a:endParaRPr lang="en-US" sz="11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11231575" y="58978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 — 記憶の宮殿を使って挑戦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もう一度、12個の動物に挑戦！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トラ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 — 記憶の宮殿を使って挑戦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もう一度、12個の動物に挑戦！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トラ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シマウマ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 — 記憶の宮殿を使って挑戦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もう一度、12個の動物に挑戦！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トラ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シマウマ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コウモリ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 — 記憶の宮殿を使って挑戦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もう一度、12個の動物に挑戦！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トラ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シマウマ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コウモリ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カワウソ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 — 記憶の宮殿を使って挑戦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もう一度、12個の動物に挑戦！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トラ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シマウマ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コウモリ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カワウソ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フラミンゴ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 — 記憶の宮殿を使って挑戦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もう一度、12個の動物に挑戦！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トラ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シマウマ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コウモリ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カワウソ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フラミンゴ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57607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タヌキ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 — 記憶の宮殿を使って挑戦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もう一度、12個の動物に挑戦！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トラ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シマウマ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コウモリ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カワウソ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フラミンゴ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7607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タヌキ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78728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オオカミ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 — 記憶の宮殿を使って挑戦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もう一度、12個の動物に挑戦！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トラ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シマウマ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コウモリ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カワウソ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フラミンゴ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7607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タヌキ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8728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オオカミ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78728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カメレオン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 — 記憶の宮殿を使って挑戦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もう一度、12個の動物に挑戦！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トラ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シマウマ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コウモリ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カワウソ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フラミンゴ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7607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タヌキ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8728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オオカミ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8728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カメレオン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78728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リス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 — 記憶の宮殿を使って挑戦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もう一度、12個の動物に挑戦！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トラ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シマウマ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コウモリ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カワウソ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フラミンゴ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7607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タヌキ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8728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オオカミ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8728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カメレオン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8728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リス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78728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セイウチ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 — 記憶の宮殿を使って挑戦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もう一度、12個の動物に挑戦！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トラ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シマウマ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コウモリ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カワウソ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フラミンゴ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7607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タヌキ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8728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オオカミ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8728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カメレオン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8728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リス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78728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セイウチ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78728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クジャク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2E1A47"/>
          </a:solidFill>
          <a:ln w="12700">
            <a:solidFill>
              <a:srgbClr val="5B4A80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 — 記憶の宮殿を使って挑戦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もう一度、12個の動物に挑戦！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88575" y="36576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トラ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シマウマ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コウモリ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カワウソ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フラミンゴ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7607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タヌキ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78728" y="14173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8728" y="14173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オオカミ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78728" y="228600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8728" y="228600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カメレオン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278728" y="315468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8728" y="315468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リス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278728" y="402336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78728" y="402336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セイウチ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78728" y="489204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12700">
            <a:solidFill>
              <a:srgbClr val="5B4A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8728" y="489204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クジャク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278728" y="5760720"/>
            <a:ext cx="4998568" cy="731520"/>
          </a:xfrm>
          <a:prstGeom prst="roundRect">
            <a:avLst>
              <a:gd name="adj" fmla="val 10000"/>
            </a:avLst>
          </a:prstGeom>
          <a:solidFill>
            <a:srgbClr val="3D2A5E"/>
          </a:solidFill>
          <a:ln w="28575">
            <a:solidFill>
              <a:srgbClr val="C9A22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78728" y="5760720"/>
            <a:ext cx="499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アルマジロ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457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4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覚えやすさが、全然違うでしょう？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615288" y="2011680"/>
            <a:ext cx="4206240" cy="3383280"/>
          </a:xfrm>
          <a:prstGeom prst="roundRect">
            <a:avLst>
              <a:gd name="adj" fmla="val 3243"/>
            </a:avLst>
          </a:prstGeom>
          <a:solidFill>
            <a:srgbClr val="F2F0F5"/>
          </a:solidFill>
          <a:ln w="12700">
            <a:solidFill>
              <a:srgbClr val="DCD7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15288" y="23317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何もなし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15288" y="297180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9B9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12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1615288" y="46634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思い出せた数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70168" y="1874520"/>
            <a:ext cx="4206240" cy="3657600"/>
          </a:xfrm>
          <a:prstGeom prst="roundRect">
            <a:avLst>
              <a:gd name="adj" fmla="val 3000"/>
            </a:avLst>
          </a:prstGeom>
          <a:solidFill>
            <a:srgbClr val="2E1A47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70168" y="21945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記憶の宮殿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70168" y="288036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/ 12</a:t>
            </a:r>
            <a:endParaRPr lang="en-US" sz="6800" dirty="0"/>
          </a:p>
        </p:txBody>
      </p:sp>
      <p:sp>
        <p:nvSpPr>
          <p:cNvPr id="10" name="Text 8"/>
          <p:cNvSpPr/>
          <p:nvPr/>
        </p:nvSpPr>
        <p:spPr>
          <a:xfrm>
            <a:off x="6370168" y="46177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思い出せた数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6172200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※体感としての一例です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もしもこれを、</a:t>
            </a:r>
            <a:endParaRPr lang="en-US" sz="3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歴史の暗記に使えたら？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023360" y="4206240"/>
            <a:ext cx="822960" cy="822960"/>
          </a:xfrm>
          <a:prstGeom prst="ellipse">
            <a:avLst/>
          </a:prstGeom>
          <a:solidFill>
            <a:srgbClr val="3D2A5E"/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0870" y="4403750"/>
            <a:ext cx="427939" cy="4279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03520" y="42062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7315200" y="4206240"/>
            <a:ext cx="822960" cy="822960"/>
          </a:xfrm>
          <a:prstGeom prst="ellipse">
            <a:avLst/>
          </a:prstGeom>
          <a:solidFill>
            <a:srgbClr val="3D2A5E"/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2710" y="4403750"/>
            <a:ext cx="427939" cy="42793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記憶の宮殿で、歴史を覚えられたら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74420" y="1559052"/>
            <a:ext cx="685800" cy="685800"/>
          </a:xfrm>
          <a:prstGeom prst="ellipse">
            <a:avLst/>
          </a:prstGeom>
          <a:solidFill>
            <a:srgbClr val="F1E6B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012" y="1723644"/>
            <a:ext cx="356616" cy="3566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168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24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感覚に変わる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011680" y="1901952"/>
            <a:ext cx="93570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A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AIが歴史の出来事を、温度・匂い・質感に変換する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1074420" y="2427732"/>
            <a:ext cx="685800" cy="685800"/>
          </a:xfrm>
          <a:prstGeom prst="ellipse">
            <a:avLst/>
          </a:prstGeom>
          <a:solidFill>
            <a:srgbClr val="F1E6B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012" y="2592324"/>
            <a:ext cx="356616" cy="3566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11680" y="2423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24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体に刻まれる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2011680" y="2770632"/>
            <a:ext cx="93570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A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足先から頭頂へ、時代の流れを身体にマッピングする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1074420" y="3296412"/>
            <a:ext cx="685800" cy="685800"/>
          </a:xfrm>
          <a:prstGeom prst="ellipse">
            <a:avLst/>
          </a:prstGeom>
          <a:solidFill>
            <a:srgbClr val="F1E6B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012" y="3461004"/>
            <a:ext cx="356616" cy="3566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01168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241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体験になる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2011680" y="3639312"/>
            <a:ext cx="93570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A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「知ってる」ではなく「体験したことがある」記憶になる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2194560" y="4892040"/>
            <a:ext cx="7802575" cy="1280160"/>
          </a:xfrm>
          <a:prstGeom prst="roundRect">
            <a:avLst>
              <a:gd name="adj" fmla="val 8571"/>
            </a:avLst>
          </a:prstGeom>
          <a:solidFill>
            <a:srgbClr val="2E1A47"/>
          </a:solidFill>
          <a:ln/>
          <a:effectLst>
            <a:outerShdw sx="100000" sy="100000" kx="0" ky="0" algn="bl" rotWithShape="0" blurRad="101600" dist="25400" dir="5400000">
              <a:srgbClr val="000000">
                <a:alpha val="20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2194560" y="4892040"/>
            <a:ext cx="780257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その名も、</a:t>
            </a:r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歴史の宮殿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E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01488" y="822960"/>
            <a:ext cx="1188720" cy="1188720"/>
          </a:xfrm>
          <a:prstGeom prst="ellipse">
            <a:avLst/>
          </a:prstGeom>
          <a:solidFill>
            <a:srgbClr val="3D2A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6780" y="1108253"/>
            <a:ext cx="618134" cy="61813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01488" y="822960"/>
            <a:ext cx="1188720" cy="1188720"/>
          </a:xfrm>
          <a:prstGeom prst="ellipse">
            <a:avLst/>
          </a:prstGeom>
          <a:solidFill>
            <a:srgbClr val="3D2A5E"/>
          </a:solidFill>
          <a:ln w="25400">
            <a:solidFill>
              <a:srgbClr val="C9A227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780" y="1108253"/>
            <a:ext cx="618134" cy="6181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2286000"/>
            <a:ext cx="11277295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歴史の宮殿</a:t>
            </a:r>
            <a:endParaRPr lang="en-US" sz="8400" dirty="0"/>
          </a:p>
        </p:txBody>
      </p:sp>
      <p:sp>
        <p:nvSpPr>
          <p:cNvPr id="7" name="Text 3"/>
          <p:cNvSpPr/>
          <p:nvPr/>
        </p:nvSpPr>
        <p:spPr>
          <a:xfrm>
            <a:off x="914400" y="434340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好きな歴史を、いますぐ体に刻もう。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>
            <a:off x="4678528" y="5212080"/>
            <a:ext cx="2834640" cy="658368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/>
        </p:spPr>
      </p:sp>
      <p:sp>
        <p:nvSpPr>
          <p:cNvPr id="9" name="Text 5"/>
          <p:cNvSpPr/>
          <p:nvPr/>
        </p:nvSpPr>
        <p:spPr>
          <a:xfrm>
            <a:off x="4678528" y="521208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今すぐ体験する →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2026-07-25T04:06:41Z</dcterms:created>
  <dcterms:modified xsi:type="dcterms:W3CDTF">2026-07-25T04:06:41Z</dcterms:modified>
</cp:coreProperties>
</file>